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59da93f-d410-432e-c258-81d0c97dcba6}">
          <p14:sldIdLst>
            <p14:sldId id="256"/>
          </p14:sldIdLst>
        </p14:section>
        <p14:section name="Problem" id="{820da98f-f0a7-71a7-970b-52b6f41bea78}">
          <p14:sldIdLst>
            <p14:sldId id="257"/>
            <p14:sldId id="258"/>
            <p14:sldId id="259"/>
            <p14:sldId id="260"/>
          </p14:sldIdLst>
        </p14:section>
        <p14:section name="Solution" id="{350ae062-36f1-a355-b3b5-4c36c27132bc}">
          <p14:sldIdLst>
            <p14:sldId id="261"/>
            <p14:sldId id="262"/>
            <p14:sldId id="263"/>
          </p14:sldIdLst>
        </p14:section>
        <p14:section name="Demo" id="{aad697b5-8be4-071a-5a3a-b704423c4780}">
          <p14:sldIdLst>
            <p14:sldId id="264"/>
          </p14:sldIdLst>
        </p14:section>
        <p14:section name="Evaluation" id="{bfd9070e-e778-a764-8e55-95bbbd76770c}">
          <p14:sldIdLst>
            <p14:sldId id="265"/>
            <p14:sldId id="266"/>
            <p14:sldId id="267"/>
          </p14:sldIdLst>
        </p14:section>
        <p14:section name="Next Steps" id="{418f7f0e-5a4f-e4ea-fc8e-ea3ea7fcc561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sec. Say the app name and the one-line pitch. Introduce each team member and their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RUBRIC: Problem and value (20). State the problem in one sentence first, then let the three numbers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RUBRIC: Problem and value. Make it human: one short patient scenario works better than more stats.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List the current options neutrally. Disadvantages come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End with the gap: nothing covers the everyday, short-notice appointment. That is where our app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RUBRIC: Problem and value. Position it as a bridge for shortages, not a replacement for certified interpreters.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Walk through one appointment from both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RUBRIC: AI approach (20). Explain WHY each component was chosen, not just what it is. Mention BSL vs ASL: the stats are UK, so say which one you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RUBRIC: Demo (25). Script it: one patient scenario end to end. Keep the backup recording ready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RUBRIC: Evaluation and responsible AI (20). Be specific and honest about sample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Replace with your real numbers, and say what they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RUBRIC: Evaluation and responsible AI. Show you know the risks and what safeguards you have, e.g. clinician review of notes, confidence warnings.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Keep it realistic and ordered by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Communication and Q&amp;A (15). Decide in advance who answers which type of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0D9DD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0D9DD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5488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Stats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457200" y="1280160"/>
            <a:ext cx="2615184" cy="21945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94360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94360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Shape 1"/>
          <p:cNvSpPr/>
          <p:nvPr/>
        </p:nvSpPr>
        <p:spPr>
          <a:xfrm>
            <a:off x="3264408" y="1280160"/>
            <a:ext cx="2615184" cy="21945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3401568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3401568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Shape 2"/>
          <p:cNvSpPr/>
          <p:nvPr/>
        </p:nvSpPr>
        <p:spPr>
          <a:xfrm>
            <a:off x="6071616" y="1280160"/>
            <a:ext cx="2615184" cy="21945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6208776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6208776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3"/>
          <p:cNvSpPr/>
          <p:nvPr>
            <p:ph idx="110" type="body" hasCustomPrompt="1"/>
          </p:nvPr>
        </p:nvSpPr>
        <p:spPr>
          <a:xfrm>
            <a:off x="457200" y="4526280"/>
            <a:ext cx="75895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 + Tex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475488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0" y="1234440"/>
            <a:ext cx="32004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[App name]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i="1" dirty="0">
                <a:solidFill>
                  <a:srgbClr val="D6E8EB"/>
                </a:solidFill>
              </a:rPr>
              <a:t>Live sign language translation and clinical notes for deaf patients and their doctors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i="1" dirty="0">
                <a:solidFill>
                  <a:srgbClr val="D6E8EB"/>
                </a:solidFill>
              </a:rPr>
              <a:t>Team member names · Session 15 · 29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94360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 : 60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94360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Qualified BSL interpreters to deaf BSL users (about 1,500 for 87,000)</a:t>
            </a:r>
            <a:endParaRPr lang="en-US" sz="14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3401568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50%+</a:t>
            </a:r>
            <a:endParaRPr lang="en-US" sz="4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3401568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Deaf patients who rely on family members to interpret clinical appointments</a:t>
            </a:r>
            <a:endParaRPr lang="en-US" sz="14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208776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7%</a:t>
            </a:r>
            <a:endParaRPr lang="en-US" sz="44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6208776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Patients who need a professional interpreter and always get one</a:t>
            </a:r>
            <a:endParaRPr lang="en-US" sz="1400" dirty="0"/>
          </a:p>
        </p:txBody>
      </p:sp>
      <p:sp>
        <p:nvSpPr>
          <p:cNvPr id="9" name="Text 3"/>
          <p:cNvSpPr/>
          <p:nvPr>
            <p:ph idx="110" type="body" hasCustomPrompt="1"/>
          </p:nvPr>
        </p:nvSpPr>
        <p:spPr>
          <a:xfrm>
            <a:off x="457200" y="4526280"/>
            <a:ext cx="758952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000" i="1" dirty="0">
                <a:solidFill>
                  <a:srgbClr val="6B7F84"/>
                </a:solidFill>
              </a:rPr>
              <a:t>Source: RNID &amp; SignHealth study, add full citation and year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it matters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Patient safety: misheard symptoms or doses lead to misdiagnosis and errors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Consent: patients can't give informed consent to what they don't understand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Privacy: family interpreters hear confidential health details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5488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Legal duty: Equality Act 2010 and the NHS Accessible Information Standard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Health outcomes: deaf patients have worse access to care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Add one real or illustrative patient story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it's solved today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In-person BSL interpreters: booked in advance, often days ahead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Video remote interpreting (VRI): an interpreter on a screen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Family members or friends interpreting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Written notes, lip-reading, gestures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today's options fall short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Interpreters: too few, need booking, not there for urgent or out-of-hours care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VRI: depends on connection and interpreter availability, still costly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5488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Family: untrained, may filter or soften information, breaks confidentiality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Notes and lip-reading: slow, error-prone, many deaf people have English as a second language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475488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i="1" dirty="0">
                <a:solidFill>
                  <a:srgbClr val="6B7F84"/>
                </a:solidFill>
              </a:rPr>
              <a:t>Add app screenshot or hero mockup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0" y="1234440"/>
            <a:ext cx="32004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B7F84"/>
                </a:solidFill>
              </a:rPr>
              <a:t>Live sign-to-text translation for the patient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B7F84"/>
                </a:solidFill>
              </a:rPr>
              <a:t>Speech-to-text for the doctor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B7F84"/>
                </a:solidFill>
              </a:rPr>
              <a:t>Automatic consultation notes for both sides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B7F84"/>
                </a:solidFill>
              </a:rPr>
              <a:t>Answers basic questions when no interpreter is available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Who it helps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 the patient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Signs to camera, sees the doctor's words as text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Gets a plain-English summary of the visit to keep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Add a third benefit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5488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 the doctor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Reads the patient's signing as live text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Gets auto-drafted consultation notes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Add a third benefit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475488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i="1" dirty="0">
                <a:solidFill>
                  <a:srgbClr val="6B7F84"/>
                </a:solidFill>
              </a:rPr>
              <a:t>Add pipeline diagram: camera → sign recognition → text · speech → text · transcript → notes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0" y="1234440"/>
            <a:ext cx="32004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B7F84"/>
                </a:solidFill>
              </a:rPr>
              <a:t>Sign recognition: which model or library, and why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B7F84"/>
                </a:solidFill>
              </a:rPr>
              <a:t>Speech-to-text: which model, and why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B7F84"/>
                </a:solidFill>
              </a:rPr>
              <a:t>Notes and Q&amp;A: which language model, and how it is kept safe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i="1" dirty="0">
                <a:solidFill>
                  <a:srgbClr val="6B7F84"/>
                </a:solidFill>
              </a:rPr>
              <a:t>Key design choices and trade-offs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Live demo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i="1" dirty="0">
                <a:solidFill>
                  <a:srgbClr val="D6E8EB"/>
                </a:solidFill>
              </a:rPr>
              <a:t>App link · what the audience will see in 5 minutes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we tested it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Method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Test set: what signs or phrases, how many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Who tested: signers, team, users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Metrics: accuracy, speed, usefulness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5488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Scenarios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Clinical scenarios used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Edge cases: lighting, speed, different signers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What we compared against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94360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6B7F84"/>
                </a:solidFill>
              </a:rPr>
              <a:t>__ %</a:t>
            </a:r>
            <a:endParaRPr lang="en-US" sz="4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94360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F84"/>
                </a:solidFill>
              </a:rPr>
              <a:t>Recognition accuracy</a:t>
            </a:r>
            <a:endParaRPr lang="en-US" sz="14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3401568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6B7F84"/>
                </a:solidFill>
              </a:rPr>
              <a:t>__ s</a:t>
            </a:r>
            <a:endParaRPr lang="en-US" sz="44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3401568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F84"/>
                </a:solidFill>
              </a:rPr>
              <a:t>Translation delay</a:t>
            </a:r>
            <a:endParaRPr lang="en-US" sz="1400" dirty="0"/>
          </a:p>
        </p:txBody>
      </p:sp>
      <p:sp>
        <p:nvSpPr>
          <p:cNvPr id="7" name="Text 3"/>
          <p:cNvSpPr/>
          <p:nvPr>
            <p:ph idx="108" type="body" hasCustomPrompt="1"/>
          </p:nvPr>
        </p:nvSpPr>
        <p:spPr>
          <a:xfrm>
            <a:off x="6208776" y="1417320"/>
            <a:ext cx="2340864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6B7F84"/>
                </a:solidFill>
              </a:rPr>
              <a:t>__ / 5</a:t>
            </a:r>
            <a:endParaRPr lang="en-US" sz="4400" dirty="0"/>
          </a:p>
        </p:txBody>
      </p:sp>
      <p:sp>
        <p:nvSpPr>
          <p:cNvPr id="8" name="Text 3"/>
          <p:cNvSpPr/>
          <p:nvPr>
            <p:ph idx="109" type="body" hasCustomPrompt="1"/>
          </p:nvPr>
        </p:nvSpPr>
        <p:spPr>
          <a:xfrm>
            <a:off x="6208776" y="2468880"/>
            <a:ext cx="2340864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F84"/>
                </a:solidFill>
              </a:rPr>
              <a:t>User rating or usefulness score</a:t>
            </a:r>
            <a:endParaRPr lang="en-US" sz="1400" dirty="0"/>
          </a:p>
        </p:txBody>
      </p:sp>
      <p:sp>
        <p:nvSpPr>
          <p:cNvPr id="9" name="Text 3"/>
          <p:cNvSpPr/>
          <p:nvPr>
            <p:ph idx="110" type="body" hasCustomPrompt="1"/>
          </p:nvPr>
        </p:nvSpPr>
        <p:spPr>
          <a:xfrm>
            <a:off x="457200" y="4526280"/>
            <a:ext cx="758952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000" i="1" dirty="0">
                <a:solidFill>
                  <a:srgbClr val="6B7F84"/>
                </a:solidFill>
              </a:rPr>
              <a:t>Test conditions and sample size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Limitations and responsible AI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Small vocabulary; BSL grammar, facial expressions and regional signs are hard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Errors in a clinical setting can cause harm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Add what failed in your testing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754880" y="1234440"/>
            <a:ext cx="393192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Ethical and regulatory risks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Health data is special category data under UK GDPR: consent and storage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May count as a medical device under MHRA rules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Bias across signers; must not replace interpreters where one is needed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34440"/>
            <a:ext cx="8229600" cy="3383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Co-design and test with deaf users and BSL interpreters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Expand vocabulary and train on more signers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Pilot with a GP practice or clinic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rgbClr val="6B7F84"/>
                </a:solidFill>
              </a:rPr>
              <a:t>Data protection and regulatory review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 · Questions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i="1" dirty="0">
                <a:solidFill>
                  <a:srgbClr val="D6E8EB"/>
                </a:solidFill>
              </a:rPr>
              <a:t>App link · QR code · team contacts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 Teal">
  <a:themeElements>
    <a:clrScheme name="Health Teal">
      <a:dk1>
        <a:srgbClr val="1B2A2F"/>
      </a:dk1>
      <a:lt1>
        <a:srgbClr val="FFFFFF"/>
      </a:lt1>
      <a:dk2>
        <a:srgbClr val="0B4F5C"/>
      </a:dk2>
      <a:lt2>
        <a:srgbClr val="EEF5F6"/>
      </a:lt2>
      <a:accent1>
        <a:srgbClr val="0B7A8A"/>
      </a:accent1>
      <a:accent2>
        <a:srgbClr val="F2A541"/>
      </a:accent2>
      <a:accent3>
        <a:srgbClr val="5FB3B3"/>
      </a:accent3>
      <a:accent4>
        <a:srgbClr val="34495E"/>
      </a:accent4>
      <a:accent5>
        <a:srgbClr val="C0D9DD"/>
      </a:accent5>
      <a:accent6>
        <a:srgbClr val="E76F51"/>
      </a:accent6>
      <a:hlink>
        <a:srgbClr val="0B7A8A"/>
      </a:hlink>
      <a:folHlink>
        <a:srgbClr val="5FB3B3"/>
      </a:folHlink>
    </a:clrScheme>
    <a:fontScheme name="Health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2026-10-23T17:17:07Z</dcterms:created>
  <dcterms:modified xsi:type="dcterms:W3CDTF">2026-10-23T17:17:07Z</dcterms:modified>
</cp:coreProperties>
</file>